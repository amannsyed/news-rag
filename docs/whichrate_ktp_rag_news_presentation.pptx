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2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698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News RAG Research Intelligence Platform</a:t>
            </a:r>
          </a:p>
          <a:p>
            <a:pPr>
              <a:defRPr sz="1900">
                <a:solidFill>
                  <a:srgbClr val="DCE6F0"/>
                </a:solidFill>
              </a:defRPr>
            </a:pPr>
            <a:r>
              <a:t>A personally delivered AI project demonstrating domain RAG, vector search, NER, MCP integration, and deployable LLM tooling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88920"/>
            <a:ext cx="5394960" cy="384048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Relevant to AI-driven claims analysis and knowledge extraction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03320"/>
            <a:ext cx="9875520" cy="13716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Prepared for Data Scientist / KTP Associate interview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Aman Syed | 10-minute evidence-based project walkthrough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23A"/>
                </a:solidFill>
                <a:latin typeface="Aptos Display"/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E6C84"/>
                </a:solidFill>
                <a:latin typeface="Aptos"/>
              </a:defRPr>
            </a:pPr>
            <a:r>
              <a:t>What I will cover in the 10-minute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60196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E6C84"/>
                </a:solidFill>
              </a:defRPr>
            </a:pPr>
            <a:r>
              <a:t>News RAG AI Project | KTP Associate Interview | 2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325880"/>
            <a:ext cx="384048" cy="384048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1307592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1B21"/>
                </a:solidFill>
              </a:defRPr>
            </a:pPr>
            <a:r>
              <a:t>Problem and context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039112"/>
            <a:ext cx="384048" cy="384048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020824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1B21"/>
                </a:solidFill>
              </a:defRPr>
            </a:pPr>
            <a:r>
              <a:t>Data and limitations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752344"/>
            <a:ext cx="384048" cy="384048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2734056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1B21"/>
                </a:solidFill>
              </a:defRPr>
            </a:pPr>
            <a:r>
              <a:t>Technical architecture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465576"/>
            <a:ext cx="384048" cy="384048"/>
          </a:xfrm>
          <a:prstGeom prst="ellipse">
            <a:avLst/>
          </a:prstGeom>
          <a:solidFill>
            <a:srgbClr val="5E5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3447288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1B21"/>
                </a:solidFill>
              </a:defRPr>
            </a:pPr>
            <a:r>
              <a:t>My contribution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178808"/>
            <a:ext cx="384048" cy="384048"/>
          </a:xfrm>
          <a:prstGeom prst="ellipse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1605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71B21"/>
                </a:solidFill>
              </a:defRPr>
            </a:pPr>
            <a:r>
              <a:t>Outcomes, failures, and demo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1417320"/>
            <a:ext cx="3886200" cy="27432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E76F51"/>
                </a:solidFill>
              </a:defRPr>
            </a:pPr>
            <a:r>
              <a:t>Key message</a:t>
            </a:r>
          </a:p>
          <a:p>
            <a:pPr>
              <a:spcBef>
                <a:spcPts val="600"/>
              </a:spcBef>
              <a:defRPr sz="1250">
                <a:solidFill>
                  <a:srgbClr val="171B21"/>
                </a:solidFill>
              </a:defRPr>
            </a:pPr>
            <a:r>
              <a:t>I built a working, end-to-end RAG system rather than a simple API wrapper: ingestion, enrichment, retrieval, chat, citations, UI, MCP, and monitoring.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23A"/>
                </a:solidFill>
                <a:latin typeface="Aptos Display"/>
              </a:defRPr>
            </a:pPr>
            <a:r>
              <a:t>Problem And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E6C84"/>
                </a:solidFill>
                <a:latin typeface="Aptos"/>
              </a:defRPr>
            </a:pPr>
            <a:r>
              <a:t>Turning large volumes of unstructured text into traceable decisions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60196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E6C84"/>
                </a:solidFill>
              </a:defRPr>
            </a:pPr>
            <a:r>
              <a:t>News RAG AI Project | KTP Associate Interview |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5303520" cy="43891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71B21"/>
                </a:solidFill>
              </a:defRPr>
            </a:pPr>
            <a:r>
              <a:t>Problem: analysts need fast, reliable answers from constantly changing unstructured news articles.</a:t>
            </a:r>
          </a:p>
          <a:p>
            <a:pPr>
              <a:spcAft>
                <a:spcPts val="800"/>
              </a:spcAft>
              <a:defRPr sz="1700">
                <a:solidFill>
                  <a:srgbClr val="171B21"/>
                </a:solidFill>
              </a:defRPr>
            </a:pPr>
            <a:r>
              <a:t>Why it matters: manual review is slow, hard to audit, and difficult to scale across topics and sources.</a:t>
            </a:r>
          </a:p>
          <a:p>
            <a:pPr>
              <a:spcAft>
                <a:spcPts val="800"/>
              </a:spcAft>
              <a:defRPr sz="1700">
                <a:solidFill>
                  <a:srgbClr val="171B21"/>
                </a:solidFill>
              </a:defRPr>
            </a:pPr>
            <a:r>
              <a:t>KTP relevance: the same pattern applies to claim packs and legal documents: extract facts, retrieve evidence, explain decisions, and cite source 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234440"/>
            <a:ext cx="4754880" cy="13716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008080"/>
                </a:solidFill>
              </a:defRPr>
            </a:pPr>
            <a:r>
              <a:t>Business outcome target</a:t>
            </a:r>
          </a:p>
          <a:p>
            <a:pPr>
              <a:spcBef>
                <a:spcPts val="600"/>
              </a:spcBef>
              <a:defRPr sz="1250">
                <a:solidFill>
                  <a:srgbClr val="171B21"/>
                </a:solidFill>
              </a:defRPr>
            </a:pPr>
            <a:r>
              <a:t>Reduce search and reading time while preserving evidence trails through article IDs, source URLs, and exact chunk spans.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80360"/>
            <a:ext cx="4754880" cy="123444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2A9D8F"/>
                </a:solidFill>
              </a:defRPr>
            </a:pPr>
            <a:r>
              <a:t>Design principle</a:t>
            </a:r>
          </a:p>
          <a:p>
            <a:pPr>
              <a:spcBef>
                <a:spcPts val="600"/>
              </a:spcBef>
              <a:defRPr sz="1250">
                <a:solidFill>
                  <a:srgbClr val="171B21"/>
                </a:solidFill>
              </a:defRPr>
            </a:pPr>
            <a:r>
              <a:t>Every answer should be grounded in retrievable content, not just generated from model memory.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389120"/>
            <a:ext cx="4754880" cy="123444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5E548E"/>
                </a:solidFill>
              </a:defRPr>
            </a:pPr>
            <a:r>
              <a:t>Demonstration scope</a:t>
            </a:r>
          </a:p>
          <a:p>
            <a:pPr>
              <a:spcBef>
                <a:spcPts val="600"/>
              </a:spcBef>
              <a:defRPr sz="1250">
                <a:solidFill>
                  <a:srgbClr val="171B21"/>
                </a:solidFill>
              </a:defRPr>
            </a:pPr>
            <a:r>
              <a:t>A functional local system with Docker, PostgreSQL/pgvector, GPU model services, FastAPI, React UI, and MCP tools.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23A"/>
                </a:solidFill>
                <a:latin typeface="Aptos Display"/>
              </a:defRPr>
            </a:pPr>
            <a: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E6C84"/>
                </a:solidFill>
                <a:latin typeface="Aptos"/>
              </a:defRPr>
            </a:pPr>
            <a:r>
              <a:t>Multi-source articles with real-world quality issues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60196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E6C84"/>
                </a:solidFill>
              </a:defRPr>
            </a:pPr>
            <a:r>
              <a:t>News RAG AI Project | KTP Associate Interview |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2286000" cy="384048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NewsAPI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325880"/>
            <a:ext cx="2286000" cy="384048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GNews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325880"/>
            <a:ext cx="2286000" cy="384048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Currents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2286000" cy="384048"/>
          </a:xfrm>
          <a:prstGeom prst="roundRect">
            <a:avLst/>
          </a:prstGeom>
          <a:solidFill>
            <a:srgbClr val="5E5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NYTimes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2286000"/>
            <a:ext cx="2286000" cy="384048"/>
          </a:xfrm>
          <a:prstGeom prst="round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NewsData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2286000"/>
            <a:ext cx="2286000" cy="384048"/>
          </a:xfrm>
          <a:prstGeom prst="roundRect">
            <a:avLst/>
          </a:prstGeom>
          <a:solidFill>
            <a:srgbClr val="507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TheNewsAPI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5303520" cy="20116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71B21"/>
                </a:solidFill>
              </a:defRPr>
            </a:pPr>
            <a:r>
              <a:t>Ingested article metadata, article body/content, source, author, URL, images, publish time, provider, and raw payload.</a:t>
            </a:r>
          </a:p>
          <a:p>
            <a:pPr>
              <a:spcAft>
                <a:spcPts val="800"/>
              </a:spcAft>
              <a:defRPr sz="1600">
                <a:solidFill>
                  <a:srgbClr val="171B21"/>
                </a:solidFill>
              </a:defRPr>
            </a:pPr>
            <a:r>
              <a:t>Handled provider limits, pagination differences, quota failures, truncated content, duplicate articles, and missing fields.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234440"/>
            <a:ext cx="4754880" cy="29260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71B21"/>
                </a:solidFill>
              </a:defRPr>
            </a:pPr>
            <a:r>
              <a:t>Storage design: separate article_metadata and article_contents tables for cleaner indexing and retrieval.</a:t>
            </a:r>
          </a:p>
          <a:p>
            <a:pPr>
              <a:spcAft>
                <a:spcPts val="800"/>
              </a:spcAft>
              <a:defRPr sz="1600">
                <a:solidFill>
                  <a:srgbClr val="171B21"/>
                </a:solidFill>
              </a:defRPr>
            </a:pPr>
            <a:r>
              <a:t>Deduplication: URL/content hashes prevent repeated storage and wasted downstream model calls.</a:t>
            </a:r>
          </a:p>
          <a:p>
            <a:pPr>
              <a:spcAft>
                <a:spcPts val="800"/>
              </a:spcAft>
              <a:defRPr sz="1600">
                <a:solidFill>
                  <a:srgbClr val="171B21"/>
                </a:solidFill>
              </a:defRPr>
            </a:pPr>
            <a:r>
              <a:t>Logs: INFO, WARNING, and ERROR log files for ingestion observability.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23A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E6C84"/>
                </a:solidFill>
                <a:latin typeface="Aptos"/>
              </a:defRPr>
            </a:pPr>
            <a:r>
              <a:t>End-to-end pipeline from APIs to cited answers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60196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E6C84"/>
                </a:solidFill>
              </a:defRPr>
            </a:pPr>
            <a:r>
              <a:t>News RAG AI Project | KTP Associate Interview |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1920240" cy="123444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008080"/>
                </a:solidFill>
              </a:defRPr>
            </a:pPr>
            <a:r>
              <a:t>News APIs</a:t>
            </a:r>
          </a:p>
          <a:p>
            <a:pPr>
              <a:spcBef>
                <a:spcPts val="600"/>
              </a:spcBef>
              <a:defRPr sz="1250">
                <a:solidFill>
                  <a:srgbClr val="171B21"/>
                </a:solidFill>
              </a:defRPr>
            </a:pPr>
            <a:r>
              <a:t>NewsAPI, GNews, NYTimes, NewsData, Currents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23160" y="2487168"/>
            <a:ext cx="365760" cy="0"/>
          </a:xfrm>
          <a:prstGeom prst="line">
            <a:avLst/>
          </a:prstGeom>
          <a:ln w="25400">
            <a:solidFill>
              <a:srgbClr val="5E6C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788920" y="1874519"/>
            <a:ext cx="1920240" cy="123444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E76F51"/>
                </a:solidFill>
              </a:defRPr>
            </a:pPr>
            <a:r>
              <a:t>PostgreSQL</a:t>
            </a:r>
          </a:p>
          <a:p>
            <a:pPr>
              <a:spcBef>
                <a:spcPts val="600"/>
              </a:spcBef>
              <a:defRPr sz="1250">
                <a:solidFill>
                  <a:srgbClr val="171B21"/>
                </a:solidFill>
              </a:defRPr>
            </a:pPr>
            <a:r>
              <a:t>metadata + content + raw JSON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709160" y="2487168"/>
            <a:ext cx="365760" cy="0"/>
          </a:xfrm>
          <a:prstGeom prst="line">
            <a:avLst/>
          </a:prstGeom>
          <a:ln w="25400">
            <a:solidFill>
              <a:srgbClr val="5E6C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74920" y="1874519"/>
            <a:ext cx="1920240" cy="123444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2A9D8F"/>
                </a:solidFill>
              </a:defRPr>
            </a:pPr>
            <a:r>
              <a:t>GPU Workers</a:t>
            </a:r>
          </a:p>
          <a:p>
            <a:pPr>
              <a:spcBef>
                <a:spcPts val="600"/>
              </a:spcBef>
              <a:defRPr sz="1250">
                <a:solidFill>
                  <a:srgbClr val="171B21"/>
                </a:solidFill>
              </a:defRPr>
            </a:pPr>
            <a:r>
              <a:t>EmbeddingGemma + GLiNER services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995160" y="2487168"/>
            <a:ext cx="365760" cy="0"/>
          </a:xfrm>
          <a:prstGeom prst="line">
            <a:avLst/>
          </a:prstGeom>
          <a:ln w="25400">
            <a:solidFill>
              <a:srgbClr val="5E6C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360920" y="1874519"/>
            <a:ext cx="1920240" cy="123444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5E548E"/>
                </a:solidFill>
              </a:defRPr>
            </a:pPr>
            <a:r>
              <a:t>Retrieval API</a:t>
            </a:r>
          </a:p>
          <a:p>
            <a:pPr>
              <a:spcBef>
                <a:spcPts val="600"/>
              </a:spcBef>
              <a:defRPr sz="1250">
                <a:solidFill>
                  <a:srgbClr val="171B21"/>
                </a:solidFill>
              </a:defRPr>
            </a:pPr>
            <a:r>
              <a:t>vector + full-text + entity RRF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281160" y="2487168"/>
            <a:ext cx="365760" cy="0"/>
          </a:xfrm>
          <a:prstGeom prst="line">
            <a:avLst/>
          </a:prstGeom>
          <a:ln w="25400">
            <a:solidFill>
              <a:srgbClr val="5E6C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646920" y="1874519"/>
            <a:ext cx="1920240" cy="123444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14223A"/>
                </a:solidFill>
              </a:defRPr>
            </a:pPr>
            <a:r>
              <a:t>Chat/UI/MCP</a:t>
            </a:r>
          </a:p>
          <a:p>
            <a:pPr>
              <a:spcBef>
                <a:spcPts val="600"/>
              </a:spcBef>
              <a:defRPr sz="1250">
                <a:solidFill>
                  <a:srgbClr val="171B21"/>
                </a:solidFill>
              </a:defRPr>
            </a:pPr>
            <a:r>
              <a:t>FastAPI, React, FastMCP tools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3977639"/>
            <a:ext cx="10058400" cy="11430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E76F51"/>
                </a:solidFill>
              </a:defRPr>
            </a:pPr>
            <a:r>
              <a:t>Evidence-first answer path</a:t>
            </a:r>
          </a:p>
          <a:p>
            <a:pPr>
              <a:spcBef>
                <a:spcPts val="600"/>
              </a:spcBef>
              <a:defRPr sz="1250">
                <a:solidFill>
                  <a:srgbClr val="171B21"/>
                </a:solidFill>
              </a:defRPr>
            </a:pPr>
            <a:r>
              <a:t>Articles are chunked, embedded, indexed, searched, fused, and returned with article-level citations and exact text spans.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23A"/>
                </a:solidFill>
                <a:latin typeface="Aptos Display"/>
              </a:defRPr>
            </a:pPr>
            <a:r>
              <a:t>Background Enrichment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E6C84"/>
                </a:solidFill>
                <a:latin typeface="Aptos"/>
              </a:defRPr>
            </a:pPr>
            <a:r>
              <a:t>Embedding and NER workers built for reuse and deduplication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60196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E6C84"/>
                </a:solidFill>
              </a:defRPr>
            </a:pPr>
            <a:r>
              <a:t>News RAG AI Project | KTP Associate Interview |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3383280" cy="132588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008080"/>
                </a:solidFill>
              </a:defRPr>
            </a:pPr>
            <a:r>
              <a:t>Token-aware chunking</a:t>
            </a:r>
          </a:p>
          <a:p>
            <a:pPr>
              <a:spcBef>
                <a:spcPts val="600"/>
              </a:spcBef>
              <a:defRPr sz="1250">
                <a:solidFill>
                  <a:srgbClr val="171B21"/>
                </a:solidFill>
              </a:defRPr>
            </a:pPr>
            <a:r>
              <a:t>Gemma tokenizer creates 500-token chunks with 50-token overlap, preserving spans for citation.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34440"/>
            <a:ext cx="3383280" cy="132588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2A9D8F"/>
                </a:solidFill>
              </a:defRPr>
            </a:pPr>
            <a:r>
              <a:t>Vector embeddings</a:t>
            </a:r>
          </a:p>
          <a:p>
            <a:pPr>
              <a:spcBef>
                <a:spcPts val="600"/>
              </a:spcBef>
              <a:defRPr sz="1250">
                <a:solidFill>
                  <a:srgbClr val="171B21"/>
                </a:solidFill>
              </a:defRPr>
            </a:pPr>
            <a:r>
              <a:t>google/embeddinggemma-300m creates 768-dimensional vectors stored in pgvector with cosine search.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234440"/>
            <a:ext cx="3383280" cy="132588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5E548E"/>
                </a:solidFill>
              </a:defRPr>
            </a:pPr>
            <a:r>
              <a:t>Named entities</a:t>
            </a:r>
          </a:p>
          <a:p>
            <a:pPr>
              <a:spcBef>
                <a:spcPts val="600"/>
              </a:spcBef>
              <a:defRPr sz="1250">
                <a:solidFill>
                  <a:srgbClr val="171B21"/>
                </a:solidFill>
              </a:defRPr>
            </a:pPr>
            <a:r>
              <a:t>GLiNER extracts PERSON, COMPANY, ORGANIZATION, REGULATION, LOCATION, and FINANCIAL_METRIC entities.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246120"/>
            <a:ext cx="5257800" cy="14173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E76F51"/>
                </a:solidFill>
              </a:defRPr>
            </a:pPr>
            <a:r>
              <a:t>30-day deduplication</a:t>
            </a:r>
          </a:p>
          <a:p>
            <a:pPr>
              <a:spcBef>
                <a:spcPts val="600"/>
              </a:spcBef>
              <a:defRPr sz="1250">
                <a:solidFill>
                  <a:srgbClr val="171B21"/>
                </a:solidFill>
              </a:defRPr>
            </a:pPr>
            <a:r>
              <a:t>SHA256 chunk hashes reuse existing embeddings/NER payloads and increment hit counts before GPU inference.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246120"/>
            <a:ext cx="5257800" cy="14173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14223A"/>
                </a:solidFill>
              </a:defRPr>
            </a:pPr>
            <a:r>
              <a:t>Database linkage</a:t>
            </a:r>
          </a:p>
          <a:p>
            <a:pPr>
              <a:spcBef>
                <a:spcPts val="600"/>
              </a:spcBef>
              <a:defRPr sz="1250">
                <a:solidFill>
                  <a:srgbClr val="171B21"/>
                </a:solidFill>
              </a:defRPr>
            </a:pPr>
            <a:r>
              <a:t>article_embedding maps chunk rows back to article_id, char_start, and char_end; article_entities links entity mentions to the source article and chunk.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23A"/>
                </a:solidFill>
                <a:latin typeface="Aptos Display"/>
              </a:defRPr>
            </a:pPr>
            <a:r>
              <a:t>Hybrid RAG Retrieval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E6C84"/>
                </a:solidFill>
                <a:latin typeface="Aptos"/>
              </a:defRPr>
            </a:pPr>
            <a:r>
              <a:t>Three search paths fused with weighted Reciprocal Rank Fusion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60196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E6C84"/>
                </a:solidFill>
              </a:defRPr>
            </a:pPr>
            <a:r>
              <a:t>News RAG AI Project | KTP Associate Interview |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3108960" cy="11430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008080"/>
                </a:solidFill>
              </a:defRPr>
            </a:pPr>
            <a:r>
              <a:t>Dense vector search</a:t>
            </a:r>
          </a:p>
          <a:p>
            <a:pPr>
              <a:spcBef>
                <a:spcPts val="600"/>
              </a:spcBef>
              <a:defRPr sz="1250">
                <a:solidFill>
                  <a:srgbClr val="171B21"/>
                </a:solidFill>
              </a:defRPr>
            </a:pPr>
            <a:r>
              <a:t>Semantic match over pgvector embeddings for conceptual questions.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143000"/>
            <a:ext cx="3108960" cy="11430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E76F51"/>
                </a:solidFill>
              </a:defRPr>
            </a:pPr>
            <a:r>
              <a:t>Full-text search</a:t>
            </a:r>
          </a:p>
          <a:p>
            <a:pPr>
              <a:spcBef>
                <a:spcPts val="600"/>
              </a:spcBef>
              <a:defRPr sz="1250">
                <a:solidFill>
                  <a:srgbClr val="171B21"/>
                </a:solidFill>
              </a:defRPr>
            </a:pPr>
            <a:r>
              <a:t>PostgreSQL tsvector keyword ranking for exact terms and factual anchors.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143000"/>
            <a:ext cx="3108960" cy="11430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5E548E"/>
                </a:solidFill>
              </a:defRPr>
            </a:pPr>
            <a:r>
              <a:t>Entity search</a:t>
            </a:r>
          </a:p>
          <a:p>
            <a:pPr>
              <a:spcBef>
                <a:spcPts val="600"/>
              </a:spcBef>
              <a:defRPr sz="1250">
                <a:solidFill>
                  <a:srgbClr val="171B21"/>
                </a:solidFill>
              </a:defRPr>
            </a:pPr>
            <a:r>
              <a:t>NER aliases and article entity mappings improve named-person/company/location queries.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94560" y="2286000"/>
            <a:ext cx="3886200" cy="777240"/>
          </a:xfrm>
          <a:prstGeom prst="line">
            <a:avLst/>
          </a:prstGeom>
          <a:ln w="25400">
            <a:solidFill>
              <a:srgbClr val="5E6C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80760" y="2286000"/>
            <a:ext cx="0" cy="777240"/>
          </a:xfrm>
          <a:prstGeom prst="line">
            <a:avLst/>
          </a:prstGeom>
          <a:ln w="25400">
            <a:solidFill>
              <a:srgbClr val="5E6C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6080760" y="2286000"/>
            <a:ext cx="3886200" cy="777240"/>
          </a:xfrm>
          <a:prstGeom prst="line">
            <a:avLst/>
          </a:prstGeom>
          <a:ln w="25400">
            <a:solidFill>
              <a:srgbClr val="5E6C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794760" y="2971800"/>
            <a:ext cx="4572000" cy="11430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2A9D8F"/>
                </a:solidFill>
              </a:defRPr>
            </a:pPr>
            <a:r>
              <a:t>Weighted RRF</a:t>
            </a:r>
          </a:p>
          <a:p>
            <a:pPr>
              <a:spcBef>
                <a:spcPts val="600"/>
              </a:spcBef>
              <a:defRPr sz="1250">
                <a:solidFill>
                  <a:srgbClr val="171B21"/>
                </a:solidFill>
              </a:defRPr>
            </a:pPr>
            <a:r>
              <a:t>score(d) = sum_s w_s / (k + rank_s(d)); weights shift dynamically when the query contains entities.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4617720"/>
            <a:ext cx="6492240" cy="86868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14223A"/>
                </a:solidFill>
              </a:defRPr>
            </a:pPr>
            <a:r>
              <a:t>Citations</a:t>
            </a:r>
          </a:p>
          <a:p>
            <a:pPr>
              <a:spcBef>
                <a:spcPts val="600"/>
              </a:spcBef>
              <a:defRPr sz="1250">
                <a:solidFill>
                  <a:srgbClr val="171B21"/>
                </a:solidFill>
              </a:defRPr>
            </a:pPr>
            <a:r>
              <a:t>Final responses cite both RAG articles and optional web-search documents with stable indexes and source metadata.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23A"/>
                </a:solidFill>
                <a:latin typeface="Aptos Display"/>
              </a:defRPr>
            </a:pPr>
            <a:r>
              <a:t>My Personal 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E6C84"/>
                </a:solidFill>
                <a:latin typeface="Aptos"/>
              </a:defRPr>
            </a:pPr>
            <a:r>
              <a:t>What I designed and implemented myself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60196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E6C84"/>
                </a:solidFill>
              </a:defRPr>
            </a:pPr>
            <a:r>
              <a:t>News RAG AI Project | KTP Associate Interview |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5440680" cy="44805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71B21"/>
                </a:solidFill>
              </a:defRPr>
            </a:pPr>
            <a:r>
              <a:t>Designed the database schema for metadata, content, embeddings, NER, cache, conversations, metrics, and web search documents.</a:t>
            </a:r>
          </a:p>
          <a:p>
            <a:pPr>
              <a:spcAft>
                <a:spcPts val="800"/>
              </a:spcAft>
              <a:defRPr sz="1600">
                <a:solidFill>
                  <a:srgbClr val="171B21"/>
                </a:solidFill>
              </a:defRPr>
            </a:pPr>
            <a:r>
              <a:t>Built ingestion clients for six news providers with pagination, rate-limit handling, logging, and deduplication.</a:t>
            </a:r>
          </a:p>
          <a:p>
            <a:pPr>
              <a:spcAft>
                <a:spcPts val="800"/>
              </a:spcAft>
              <a:defRPr sz="1600">
                <a:solidFill>
                  <a:srgbClr val="171B21"/>
                </a:solidFill>
              </a:defRPr>
            </a:pPr>
            <a:r>
              <a:t>Implemented Docker services for PostgreSQL/pgvector, GPU embedding and NER endpoints, FastAPI RAG API, MCP server, and React UI.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143000"/>
            <a:ext cx="4983480" cy="44805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71B21"/>
                </a:solidFill>
              </a:defRPr>
            </a:pPr>
            <a:r>
              <a:t>Implemented hybrid retrieval, weighted RRF, citation indexing, chat history, summarisation, follow-up questions, and delete endpoints.</a:t>
            </a:r>
          </a:p>
          <a:p>
            <a:pPr>
              <a:spcAft>
                <a:spcPts val="800"/>
              </a:spcAft>
              <a:defRPr sz="1600">
                <a:solidFill>
                  <a:srgbClr val="171B21"/>
                </a:solidFill>
              </a:defRPr>
            </a:pPr>
            <a:r>
              <a:t>Integrated Claude via Bedrock/Vertex abstraction, including configurable model selection and thinking budget controls for the main chat.</a:t>
            </a:r>
          </a:p>
          <a:p>
            <a:pPr>
              <a:spcAft>
                <a:spcPts val="800"/>
              </a:spcAft>
              <a:defRPr sz="1600">
                <a:solidFill>
                  <a:srgbClr val="171B21"/>
                </a:solidFill>
              </a:defRPr>
            </a:pPr>
            <a:r>
              <a:t>Added quick monitoring/evaluation endpoints and regression tests to make the system demonstrable and maintainable.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23A"/>
                </a:solidFill>
                <a:latin typeface="Aptos Display"/>
              </a:defRPr>
            </a:pPr>
            <a:r>
              <a:t>Outcomes And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E6C84"/>
                </a:solidFill>
                <a:latin typeface="Aptos"/>
              </a:defRPr>
            </a:pPr>
            <a:r>
              <a:t>A working AI tool with measurable engineering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60196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E6C84"/>
                </a:solidFill>
              </a:defRPr>
            </a:pPr>
            <a:r>
              <a:t>News RAG AI Project | KTP Associate Interview |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1874519" cy="132588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106</a:t>
            </a:r>
          </a:p>
          <a:p>
            <a:pPr algn="ctr">
              <a:defRPr sz="1050">
                <a:solidFill>
                  <a:srgbClr val="FFFFFF"/>
                </a:solidFill>
              </a:defRPr>
            </a:pPr>
            <a:r>
              <a:t>automated tests passing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325880"/>
            <a:ext cx="1874519" cy="1325880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6</a:t>
            </a:r>
          </a:p>
          <a:p>
            <a:pPr algn="ctr">
              <a:defRPr sz="1050">
                <a:solidFill>
                  <a:srgbClr val="FFFFFF"/>
                </a:solidFill>
              </a:defRPr>
            </a:pPr>
            <a:r>
              <a:t>news source APIs integrated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60" y="1325880"/>
            <a:ext cx="1874519" cy="132588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3</a:t>
            </a:r>
          </a:p>
          <a:p>
            <a:pPr algn="ctr">
              <a:defRPr sz="1050">
                <a:solidFill>
                  <a:srgbClr val="FFFFFF"/>
                </a:solidFill>
              </a:defRPr>
            </a:pPr>
            <a:r>
              <a:t>retrieval strategies fused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325880"/>
            <a:ext cx="1874519" cy="1325880"/>
          </a:xfrm>
          <a:prstGeom prst="roundRect">
            <a:avLst/>
          </a:prstGeom>
          <a:solidFill>
            <a:srgbClr val="5E5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2</a:t>
            </a:r>
          </a:p>
          <a:p>
            <a:pPr algn="ctr">
              <a:defRPr sz="1050">
                <a:solidFill>
                  <a:srgbClr val="FFFFFF"/>
                </a:solidFill>
              </a:defRPr>
            </a:pPr>
            <a:r>
              <a:t>GPU model workers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46920" y="1325880"/>
            <a:ext cx="1874519" cy="1325880"/>
          </a:xfrm>
          <a:prstGeom prst="round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1</a:t>
            </a:r>
          </a:p>
          <a:p>
            <a:pPr algn="ctr">
              <a:defRPr sz="1050">
                <a:solidFill>
                  <a:srgbClr val="FFFFFF"/>
                </a:solidFill>
              </a:defRPr>
            </a:pPr>
            <a:r>
              <a:t>MCP server for tool 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657600"/>
            <a:ext cx="10332720" cy="54864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4223A"/>
                </a:solidFill>
              </a:defRPr>
            </a:pPr>
            <a:r>
              <a:t>Impact: converts unstructured article text into searchable, cited, conversational knowledge that can be adapted to claims documents.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617720"/>
            <a:ext cx="9966960" cy="10058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71B21"/>
                </a:solidFill>
              </a:defRPr>
            </a:pPr>
            <a:r>
              <a:t>Demonstrates skills directly relevant to the KTP: RAG, LLM integration, vector search, NER, deployment, React UI, MCP, and applied evaluation.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23A"/>
                </a:solidFill>
                <a:latin typeface="Aptos Display"/>
              </a:defRPr>
            </a:pPr>
            <a:r>
              <a:t>Learning From Failure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E6C84"/>
                </a:solidFill>
                <a:latin typeface="Aptos"/>
              </a:defRPr>
            </a:pPr>
            <a:r>
              <a:t>What changed during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60196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E6C84"/>
                </a:solidFill>
              </a:defRPr>
            </a:pPr>
            <a:r>
              <a:t>News RAG AI Project | KTP Associate Interview |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88720"/>
            <a:ext cx="5257800" cy="14173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E76F51"/>
                </a:solidFill>
              </a:defRPr>
            </a:pPr>
            <a:r>
              <a:t>What did not work first</a:t>
            </a:r>
          </a:p>
          <a:p>
            <a:pPr>
              <a:spcBef>
                <a:spcPts val="600"/>
              </a:spcBef>
              <a:defRPr sz="1250">
                <a:solidFill>
                  <a:srgbClr val="171B21"/>
                </a:solidFill>
              </a:defRPr>
            </a:pPr>
            <a:r>
              <a:t>Simple pagination against free news APIs produced duplicate results or hard quota errors. Some providers also rejected date filters on latest endpoints.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188720"/>
            <a:ext cx="5257800" cy="14173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008080"/>
                </a:solidFill>
              </a:defRPr>
            </a:pPr>
            <a:r>
              <a:t>Engineering response</a:t>
            </a:r>
          </a:p>
          <a:p>
            <a:pPr>
              <a:spcBef>
                <a:spcPts val="600"/>
              </a:spcBef>
              <a:defRPr sz="1250">
                <a:solidFill>
                  <a:srgbClr val="171B21"/>
                </a:solidFill>
              </a:defRPr>
            </a:pPr>
            <a:r>
              <a:t>I added provider-specific date windows, skip-if-already-fetched checks, clearer logging, smaller page sizes, and quota-aware stop reasons.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246120"/>
            <a:ext cx="5257800" cy="14173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5E548E"/>
                </a:solidFill>
              </a:defRPr>
            </a:pPr>
            <a:r>
              <a:t>Model/runtime issue</a:t>
            </a:r>
          </a:p>
          <a:p>
            <a:pPr>
              <a:spcBef>
                <a:spcPts val="600"/>
              </a:spcBef>
              <a:defRPr sz="1250">
                <a:solidFill>
                  <a:srgbClr val="171B21"/>
                </a:solidFill>
              </a:defRPr>
            </a:pPr>
            <a:r>
              <a:t>GPU containers initially failed due Docker GPU runtime configuration and embedding endpoint errors during large batches.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246120"/>
            <a:ext cx="5257800" cy="14173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2A9D8F"/>
                </a:solidFill>
              </a:defRPr>
            </a:pPr>
            <a:r>
              <a:t>What I learned</a:t>
            </a:r>
          </a:p>
          <a:p>
            <a:pPr>
              <a:spcBef>
                <a:spcPts val="600"/>
              </a:spcBef>
              <a:defRPr sz="1250">
                <a:solidFill>
                  <a:srgbClr val="171B21"/>
                </a:solidFill>
              </a:defRPr>
            </a:pPr>
            <a:r>
              <a:t>Production AI work is integration-heavy: reliable data flow, observability, idempotency, and explainability matter as much as model choice.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23A"/>
                </a:solidFill>
                <a:latin typeface="Aptos Display"/>
              </a:defRPr>
            </a:pPr>
            <a:r>
              <a:t>Suggested Demo Queries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E6C84"/>
                </a:solidFill>
                <a:latin typeface="Aptos"/>
              </a:defRPr>
            </a:pPr>
            <a:r>
              <a:t>Use these during the recording to show the working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60196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E6C84"/>
                </a:solidFill>
              </a:defRPr>
            </a:pPr>
            <a:r>
              <a:t>News RAG AI Project | KTP Associate Interview |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698480" cy="44805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71B21"/>
                </a:solidFill>
              </a:defRPr>
            </a:pPr>
            <a:r>
              <a:t>“Summarise the latest articles about AI regulation and cite the strongest sources.”</a:t>
            </a:r>
          </a:p>
          <a:p>
            <a:pPr>
              <a:spcAft>
                <a:spcPts val="800"/>
              </a:spcAft>
              <a:defRPr sz="1900">
                <a:solidFill>
                  <a:srgbClr val="171B21"/>
                </a:solidFill>
              </a:defRPr>
            </a:pPr>
            <a:r>
              <a:t>“What are the main business risks mentioned in recent cybersecurity news?”</a:t>
            </a:r>
          </a:p>
          <a:p>
            <a:pPr>
              <a:spcAft>
                <a:spcPts val="800"/>
              </a:spcAft>
              <a:defRPr sz="1900">
                <a:solidFill>
                  <a:srgbClr val="171B21"/>
                </a:solidFill>
              </a:defRPr>
            </a:pPr>
            <a:r>
              <a:t>“Compare climate policy coverage across sources and list the key organisations involved.”</a:t>
            </a:r>
          </a:p>
          <a:p>
            <a:pPr>
              <a:spcAft>
                <a:spcPts val="800"/>
              </a:spcAft>
              <a:defRPr sz="1900">
                <a:solidFill>
                  <a:srgbClr val="171B21"/>
                </a:solidFill>
              </a:defRPr>
            </a:pPr>
            <a:r>
              <a:t>“Find articles mentioning Microsoft or OpenAI and explain why they are relevant.”</a:t>
            </a:r>
          </a:p>
          <a:p>
            <a:pPr>
              <a:spcAft>
                <a:spcPts val="800"/>
              </a:spcAft>
              <a:defRPr sz="1900">
                <a:solidFill>
                  <a:srgbClr val="171B21"/>
                </a:solidFill>
              </a:defRPr>
            </a:pPr>
            <a:r>
              <a:t>“Show me the evidence behind your answer and include article citations.”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5577840"/>
            <a:ext cx="9966960" cy="6858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500" b="1">
                <a:solidFill>
                  <a:srgbClr val="14223A"/>
                </a:solidFill>
              </a:defRPr>
            </a:pPr>
            <a:r>
              <a:t>Recording tip</a:t>
            </a:r>
          </a:p>
          <a:p>
            <a:pPr>
              <a:spcBef>
                <a:spcPts val="600"/>
              </a:spcBef>
              <a:defRPr sz="1250">
                <a:solidFill>
                  <a:srgbClr val="171B21"/>
                </a:solidFill>
              </a:defRPr>
            </a:pPr>
            <a:r>
              <a:t>Open the UI first, ask one broad semantic query, then ask a named-entity query, then click a follow-up question to demonstrate context awareness.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2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143000"/>
            <a:ext cx="104241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Why this project is relevant to Whichrate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23160"/>
            <a:ext cx="10058400" cy="24688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It shows I can build a custom LLM tool from messy unstructured data, not just call an API.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The same architecture can process PDFs/court packs: parse, chunk, extract facts, retrieve evidence, produce structured outputs, and cite source spans.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It demonstrates the applied delivery skills needed for a KTP: requirements, data engineering, ML/NLP, deployment, user tooling, monitoring, and knowledge transfer.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5532120"/>
            <a:ext cx="1828800" cy="384048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